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86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3383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921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483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2982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446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03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363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9686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4538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804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4666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8370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1488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17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451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2515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2957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90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9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CineMatch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Movie Recommendation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 ·  Content-Based Filtering  ·  Hybrid Models  ·  Streamlit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468880" cy="384048"/>
          </a:xfrm>
          <a:prstGeom prst="roundRect">
            <a:avLst>
              <a:gd name="adj" fmla="val 35714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Matrix Factorization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4572000"/>
            <a:ext cx="2468880" cy="384048"/>
          </a:xfrm>
          <a:prstGeom prst="roundRect">
            <a:avLst>
              <a:gd name="adj" fmla="val 35714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4572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4572000"/>
            <a:ext cx="2468880" cy="384048"/>
          </a:xfrm>
          <a:prstGeom prst="roundRect">
            <a:avLst>
              <a:gd name="adj" fmla="val 35714"/>
            </a:avLst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4572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Dataset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7054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do you help users discover movies they'll love from a catalogue of thousands?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6616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19202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carry 10,000+ titles. Users can't browse manually they need intelligent surfacing.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155448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51960" y="1554480"/>
            <a:ext cx="3566160" cy="16459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92024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Cold-Start Problem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34840" y="33832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have no history. New movies have no ratings. Traditional filters fail at the edges.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55448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56616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92024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2788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 Gap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0" y="33832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'Top-Rated' lists ignore personal taste. A thriller fan and a romance fan want different top-10s.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 solves all three with Collaborative Filtering, Content-Based Filtering, and a Hybrid model.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463040"/>
          </a:xfrm>
          <a:prstGeom prst="rect">
            <a:avLst/>
          </a:prstGeom>
          <a:solidFill>
            <a:srgbClr val="1B2E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463040"/>
          </a:xfrm>
          <a:prstGeom prst="rect">
            <a:avLst/>
          </a:prstGeom>
          <a:solidFill>
            <a:srgbClr val="1B2E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1463040"/>
          </a:xfrm>
          <a:prstGeom prst="rect">
            <a:avLst/>
          </a:prstGeom>
          <a:solidFill>
            <a:srgbClr val="1B2E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9,742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1417320"/>
            <a:ext cx="2560320" cy="1463040"/>
          </a:xfrm>
          <a:prstGeom prst="rect">
            <a:avLst/>
          </a:prstGeom>
          <a:solidFill>
            <a:srgbClr val="1B2E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3,683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96112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Files &amp; Schema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userId, movieId, rating, 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100K+ user-movie ratings (0.5–5.0)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movieId, title, genres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9,742 movies with pipe-separated genres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userId, movieId, tag, 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3,683 user-applied descriptive tags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movieId, imdbId, tmdbId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Cross-references to IMDB &amp; TMDB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E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17220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Scale: 0.5  ·  1.0  ·  1.5  ·  2.0  ·  2.5  ·  3.0  ·  3.5  ·  4.0  ·  4.5  ·  5.0   (half-star increments)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Clean modular design one responsibility per file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91440" cy="1920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21214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load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CSVs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1463040"/>
            <a:ext cx="3474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06240" y="1463040"/>
            <a:ext cx="91440" cy="1920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373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preprocessing.py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1214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EDA,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user-item matrix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1463040"/>
            <a:ext cx="3474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955280" y="1463040"/>
            <a:ext cx="91440" cy="1920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7373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collaborative.py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78240" y="21214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Matrix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Factorization (CF)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3474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91440" cy="1920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233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content_based.py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280160" y="44074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(CB)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06240" y="3749040"/>
            <a:ext cx="3474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206240" y="3749040"/>
            <a:ext cx="91440" cy="1920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02336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920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hybrid.py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029200" y="44074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· Cascade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Switching Hybrid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955280" y="3749040"/>
            <a:ext cx="3474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955280" y="374904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4023360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3977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evaluation.py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778240" y="440740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Precision@K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· NDCG@K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457200" y="5989320"/>
            <a:ext cx="5394960" cy="56692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594360" y="59893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main.py: End-to-end CLI pipeline, train all models, run evaluation and show demo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126480" y="5989320"/>
            <a:ext cx="5394960" cy="566928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6263640" y="59893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app.py: 5-tab Streamlit web app  real-time recommendations, EDA dashboard, live evaluation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Collaborative Filtering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SVD Matrix Factorization</a:t>
            </a:r>
            <a:endParaRPr lang="en-US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217920" cy="1097280"/>
          </a:xfrm>
          <a:prstGeom prst="rect">
            <a:avLst/>
          </a:prstGeom>
          <a:solidFill>
            <a:srgbClr val="1B2E4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31520" cy="10972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4904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Rating Matrix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81965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an m × n user-item matrix R where R[u][i] = rating given by user u to movie i.  Missing entries are 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6217920" cy="1097280"/>
          </a:xfrm>
          <a:prstGeom prst="rect">
            <a:avLst/>
          </a:prstGeom>
          <a:solidFill>
            <a:srgbClr val="1B2E4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731520" cy="10972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275234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Mean-Centre Rows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8152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each user's average rating to remove bias. This centres preferences around 0 rather than the rating scale.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6217920" cy="1097280"/>
          </a:xfrm>
          <a:prstGeom prst="rect">
            <a:avLst/>
          </a:prstGeom>
          <a:solidFill>
            <a:srgbClr val="1B2E4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731520" cy="10972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941064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01421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Truncated SVD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3434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Decompose: R ≈ U · Σ · Vᵀ  using the top-k singular values via scipy svds. U = user factors, V = movie factors.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202936"/>
            <a:ext cx="6217920" cy="1097280"/>
          </a:xfrm>
          <a:prstGeom prst="rect">
            <a:avLst/>
          </a:prstGeom>
          <a:solidFill>
            <a:srgbClr val="1B2E4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5202936"/>
            <a:ext cx="731520" cy="10972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5202936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52760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 &amp; Predict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60527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R^ = U·Σ·Vᵀ + user_means gives a predicted rating for every (user, movie) pair. Clip to [0.5, 5.0].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1417320"/>
            <a:ext cx="4846320" cy="5029200"/>
          </a:xfrm>
          <a:prstGeom prst="rect">
            <a:avLst/>
          </a:prstGeom>
          <a:solidFill>
            <a:srgbClr val="1B2E4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0" y="1554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132320" y="1965960"/>
            <a:ext cx="4480560" cy="12801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0" y="19659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≈  U  ·  Σ  ·  Vᵀ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R̂  =  U·Σ·Vᵀ  +  user_means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3401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 Implemented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SVDRecommender  (scipy svds)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4343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SurpriseRecommender  (SGD + biases)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4892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MemoryCFRecommender  (cosine kNN)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6080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n_factors = 50 latent dimensions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Content-Based Filtering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TF-IDF Vectorization + Cosine Similarity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57400" cy="12344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536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 Metadata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" y="2130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CDDEE"/>
                </a:solidFill>
              </a:rPr>
              <a:t>genres + user tags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51760" y="1463040"/>
            <a:ext cx="2057400" cy="12344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24912" y="1536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Soup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24912" y="2130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CDDEE"/>
                </a:solidFill>
              </a:rPr>
              <a:t>genres × 2 + tags (text)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01718" y="2069338"/>
            <a:ext cx="228600" cy="548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98314" y="196875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463040"/>
            <a:ext cx="2057400" cy="12344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0912" y="1536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Matrix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10912" y="2130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CDDEE"/>
                </a:solidFill>
              </a:rPr>
              <a:t>10K features per movie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223760" y="1463040"/>
            <a:ext cx="2057400" cy="12344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96912" y="1536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Similarity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96912" y="2130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CDDEE"/>
                </a:solidFill>
              </a:rPr>
              <a:t>n_movies × n_movies matrix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509760" y="1463040"/>
            <a:ext cx="2057400" cy="123444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82912" y="15361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Top-N Results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582912" y="2130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CDDEE"/>
                </a:solidFill>
              </a:rPr>
              <a:t>ranked by similarity score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2971800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539496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31272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TF-IDF Works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" y="36118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(Term Frequency)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80360" y="3611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genre/tag appears for this movie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42702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(Inverse Document Frequency)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80360" y="4270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terms that appear in ALL movies (low info)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49286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Score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80360" y="4928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for terms that are specific to this movie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5586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80360" y="5586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two TF-IDF vectors — 1.0 = identical content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17920" y="2971800"/>
            <a:ext cx="55778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2971800"/>
            <a:ext cx="5577840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55080" y="31272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Similarity Formula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400800" y="3584448"/>
            <a:ext cx="521208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0" y="358444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sim(A, B)  =  (A · B) / (|A| × |B|)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355080" y="4480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10,000 TF-IDF features learned from corpus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55080" y="48646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sublinear_tf = True  (log scaling applied)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32220" y="522122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bigram tokenization  (ngram_range = 1,2)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32220" y="5577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Genre tokens doubled to boost genre weight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32982" y="594436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tags aggregated per movie for context</a:t>
            </a:r>
            <a:endParaRPr lang="en-US" sz="120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2B7357D7-1E29-5236-E372-FC8B060EA8E0}"/>
              </a:ext>
            </a:extLst>
          </p:cNvPr>
          <p:cNvSpPr/>
          <p:nvPr/>
        </p:nvSpPr>
        <p:spPr>
          <a:xfrm>
            <a:off x="2308860" y="2066290"/>
            <a:ext cx="228600" cy="548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3AA20FD2-8DD2-5A63-7AF7-F32B2DA5AD4A}"/>
              </a:ext>
            </a:extLst>
          </p:cNvPr>
          <p:cNvSpPr/>
          <p:nvPr/>
        </p:nvSpPr>
        <p:spPr>
          <a:xfrm>
            <a:off x="2505456" y="196570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▶</a:t>
            </a:r>
            <a:endParaRPr lang="en-US" sz="1400" dirty="0"/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0B23F6F7-EB2F-C042-568D-23B91CD2FD0D}"/>
              </a:ext>
            </a:extLst>
          </p:cNvPr>
          <p:cNvSpPr/>
          <p:nvPr/>
        </p:nvSpPr>
        <p:spPr>
          <a:xfrm>
            <a:off x="6874002" y="2065020"/>
            <a:ext cx="228600" cy="548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4F854957-1B7C-593E-9311-CE83DEDDD57E}"/>
              </a:ext>
            </a:extLst>
          </p:cNvPr>
          <p:cNvSpPr/>
          <p:nvPr/>
        </p:nvSpPr>
        <p:spPr>
          <a:xfrm>
            <a:off x="7070598" y="19644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▶</a:t>
            </a:r>
            <a:endParaRPr lang="en-US" sz="140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45110C29-173C-6764-1A3A-30B195FBF1A6}"/>
              </a:ext>
            </a:extLst>
          </p:cNvPr>
          <p:cNvSpPr/>
          <p:nvPr/>
        </p:nvSpPr>
        <p:spPr>
          <a:xfrm>
            <a:off x="9160764" y="2065020"/>
            <a:ext cx="228600" cy="548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B68E26C9-F29D-2674-EBCE-39BFB1657F96}"/>
              </a:ext>
            </a:extLst>
          </p:cNvPr>
          <p:cNvSpPr/>
          <p:nvPr/>
        </p:nvSpPr>
        <p:spPr>
          <a:xfrm>
            <a:off x="9357360" y="196443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Recommendation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Combining CF and CB to outperform either model alone </a:t>
            </a:r>
            <a:endParaRPr lang="en-US" sz="1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0" cy="5074920"/>
          </a:xfrm>
          <a:prstGeom prst="rect">
            <a:avLst/>
          </a:prstGeom>
          <a:solidFill>
            <a:srgbClr val="1B2E40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657600" cy="16459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373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Hybrid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3035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blend of CF and CB scores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3456432"/>
            <a:ext cx="338328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456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0.65 × CF + 0.35 × CB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00507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scores are min-max normalised to [0,1] before blending to ensure equal scale. Weights are tunable.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5623560"/>
            <a:ext cx="3383280" cy="502920"/>
          </a:xfrm>
          <a:prstGeom prst="rect">
            <a:avLst/>
          </a:prstGeom>
          <a:solidFill>
            <a:srgbClr val="DC2626">
              <a:alpha val="25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average performance on warm users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51960" y="1417320"/>
            <a:ext cx="3657600" cy="5074920"/>
          </a:xfrm>
          <a:prstGeom prst="rect">
            <a:avLst/>
          </a:prstGeom>
          <a:solidFill>
            <a:srgbClr val="1B2E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5760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73736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434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Switching Hybrid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343400" y="3035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selects model per user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389120" y="3456432"/>
            <a:ext cx="338328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389120" y="3456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ratings ≥ 20 → CF, else → CB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389120" y="400507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users (≥20 ratings) use CF for precise taste modelling. Cold-start users get CB recommendations based on content alone.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389120" y="5623560"/>
            <a:ext cx="338328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38912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Handles cold-start users gracefully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38160" y="1417320"/>
            <a:ext cx="3657600" cy="5074920"/>
          </a:xfrm>
          <a:prstGeom prst="rect">
            <a:avLst/>
          </a:prstGeom>
          <a:solidFill>
            <a:srgbClr val="1B2E40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138160" y="1417320"/>
            <a:ext cx="3657600" cy="1645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737360"/>
            <a:ext cx="731520" cy="7315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296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Cascade Hybrid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8229600" y="3035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recall + re-rank pipeline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275320" y="3456432"/>
            <a:ext cx="338328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8275320" y="3456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recalls 60 → CB re-ranks top-N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275320" y="400507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production architectures (YouTube, Netflix). Fast CF retrieval generates candidates; CB provides fine-grained content re-ranking.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275320" y="5623560"/>
            <a:ext cx="3383280" cy="502920"/>
          </a:xfrm>
          <a:prstGeom prst="rect">
            <a:avLst/>
          </a:prstGeom>
          <a:solidFill>
            <a:srgbClr val="02C39A">
              <a:alpha val="25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27532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ranking quality for warm users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is where we measure model quality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66160" cy="731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536192"/>
            <a:ext cx="1051560" cy="292608"/>
          </a:xfrm>
          <a:prstGeom prst="rect">
            <a:avLst/>
          </a:prstGeom>
          <a:solidFill>
            <a:srgbClr val="0D1B2A">
              <a:alpha val="20000"/>
            </a:srgbClr>
          </a:solidFill>
          <a:ln w="635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338328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38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 mean((actual − pred)²)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rating prediction accuracy. Penalises large errors more than MAE. Lower is better.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41732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1960" y="1417320"/>
            <a:ext cx="356616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61688" y="1508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9400" y="1536192"/>
            <a:ext cx="1051560" cy="292608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938528"/>
            <a:ext cx="338328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1938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mean(|actual − pred|)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error per prediction. More interpretable than RMSE.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46720" y="1417320"/>
            <a:ext cx="356616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56448" y="1508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Precision@K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424160" y="1536192"/>
            <a:ext cx="1051560" cy="292608"/>
          </a:xfrm>
          <a:prstGeom prst="rect">
            <a:avLst/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24160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1938528"/>
            <a:ext cx="338328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38160" y="1938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|rec ∩ relevant| / 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K movies recommended, what fraction did the user actually like?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35661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794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Recall@K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834640" y="3822192"/>
            <a:ext cx="1051560" cy="292608"/>
          </a:xfrm>
          <a:prstGeom prst="rect">
            <a:avLst/>
          </a:prstGeom>
          <a:solidFill>
            <a:srgbClr val="02C39A">
              <a:alpha val="20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34640" y="3822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224528"/>
            <a:ext cx="338328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224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|rec ∩ relevant| / |relevant|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movies the user likes, what fraction appeared in the top-K list?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51960" y="370332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51960" y="3703320"/>
            <a:ext cx="356616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61688" y="3794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F1@K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29400" y="3822192"/>
            <a:ext cx="1051560" cy="292608"/>
          </a:xfrm>
          <a:prstGeom prst="rect">
            <a:avLst/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9400" y="3822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↑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43400" y="4224528"/>
            <a:ext cx="338328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43400" y="4224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P × R / (P + 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43400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 Balances both when neither dominates.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46720" y="370332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46720" y="3703320"/>
            <a:ext cx="356616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156448" y="3794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NDCG@K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424160" y="3822192"/>
            <a:ext cx="105156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424160" y="3822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↑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4224528"/>
            <a:ext cx="338328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138160" y="4224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DCG@K / IDCG@K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138160" y="4617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placing relevant items higher in the list. 1.0 = perfect ranking.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5603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Streamlit App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914400"/>
          </a:xfrm>
          <a:prstGeom prst="rect">
            <a:avLst/>
          </a:prstGeom>
          <a:solidFill>
            <a:srgbClr val="1B2E40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14300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Recommendations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847088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user ID, model type, and N from the sidebar. View the user's watch history alongside CF / CB / Hybrid recommendations.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11274552" cy="914400"/>
          </a:xfrm>
          <a:prstGeom prst="rect">
            <a:avLst/>
          </a:prstGeom>
          <a:solidFill>
            <a:srgbClr val="1B2E40"/>
          </a:solidFill>
          <a:ln w="63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706624"/>
            <a:ext cx="1143000" cy="41148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0662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 Movies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2907792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movie from a dropdown. The CB model finds the top-N most content-similar titles using TF-IDF cosine similarity.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11274552" cy="914400"/>
          </a:xfrm>
          <a:prstGeom prst="rect">
            <a:avLst/>
          </a:prstGeom>
          <a:solidFill>
            <a:srgbClr val="1B2E40"/>
          </a:solidFill>
          <a:ln w="63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38728"/>
            <a:ext cx="73152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1143000" cy="411480"/>
          </a:xfrm>
          <a:prstGeom prst="rect">
            <a:avLst/>
          </a:prstGeom>
          <a:solidFill>
            <a:srgbClr val="02C39A">
              <a:alpha val="20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673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602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Search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968496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free-text keywords (e.g. 'space sci-fi adventure'). TF-IDF transforms the query and ranks the whole catalogue against 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599432"/>
            <a:ext cx="11274552" cy="914400"/>
          </a:xfrm>
          <a:prstGeom prst="rect">
            <a:avLst/>
          </a:prstGeom>
          <a:solidFill>
            <a:srgbClr val="1B2E40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599432"/>
            <a:ext cx="7315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4828032"/>
            <a:ext cx="1143000" cy="411480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8280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 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20240" y="5029200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Plotly charts — rating distribution, ratings-per-user histogram, top-20 movies, genre popularity, time heatmap.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660136"/>
            <a:ext cx="11274552" cy="914400"/>
          </a:xfrm>
          <a:prstGeom prst="rect">
            <a:avLst/>
          </a:prstGeom>
          <a:solidFill>
            <a:srgbClr val="1B2E40"/>
          </a:solidFill>
          <a:ln w="63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5660136"/>
            <a:ext cx="73152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" y="5888736"/>
            <a:ext cx="1143000" cy="411480"/>
          </a:xfrm>
          <a:prstGeom prst="rect">
            <a:avLst/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888736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 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5724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Model Evaluation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920240" y="6089904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'Run Evaluation' to compute RMSE, MAE, Precision@K, Recall@K, NDCG@K across all three models with a side-by-side bar chart.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0" y="651052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Auto-download MovieLens dataset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SVD Collaborative Filtering (50 latent factors)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443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TF-IDF Content-Based Filtering (10K features)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4472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Hybrid strategies: Weighted, Switching, Cascade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95020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evaluation metrics with clear explanations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4531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5-tab interactive Streamlit web application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95604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Modular, production-ready codebase (8 modules)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7432" cy="4846320"/>
          </a:xfrm>
          <a:prstGeom prst="rect">
            <a:avLst/>
          </a:prstGeom>
          <a:solidFill>
            <a:srgbClr val="1B2E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15087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2011680"/>
            <a:ext cx="4846320" cy="822960"/>
          </a:xfrm>
          <a:prstGeom prst="rect">
            <a:avLst/>
          </a:prstGeom>
          <a:solidFill>
            <a:srgbClr val="1B2E4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3720" y="20848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~0.89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RMSE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rating prediction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017520"/>
            <a:ext cx="4846320" cy="822960"/>
          </a:xfrm>
          <a:prstGeom prst="rect">
            <a:avLst/>
          </a:prstGeom>
          <a:solidFill>
            <a:srgbClr val="1B2E4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30906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~14.2%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124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Precision@10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model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4023360"/>
            <a:ext cx="4846320" cy="822960"/>
          </a:xfrm>
          <a:prstGeom prst="rect">
            <a:avLst/>
          </a:prstGeom>
          <a:solidFill>
            <a:srgbClr val="1B2E4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40965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~17.3%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NDCG@10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Hybrid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5029200"/>
            <a:ext cx="4846320" cy="822960"/>
          </a:xfrm>
          <a:prstGeom prst="rect">
            <a:avLst/>
          </a:prstGeom>
          <a:solidFill>
            <a:srgbClr val="1B2E4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51023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~28%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41248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5440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coverage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113</TotalTime>
  <Words>1237</Words>
  <Application>Microsoft Office PowerPoint</Application>
  <PresentationFormat>Widescreen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Corbel</vt:lpstr>
      <vt:lpstr>Trebuchet MS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— Movie Recommendation System</dc:title>
  <dc:subject>PptxGenJS Presentation</dc:subject>
  <dc:creator>ML Engineer</dc:creator>
  <cp:lastModifiedBy>ziad mohammed shaker abo el hamad diab</cp:lastModifiedBy>
  <cp:revision>2</cp:revision>
  <dcterms:created xsi:type="dcterms:W3CDTF">2026-05-07T22:46:18Z</dcterms:created>
  <dcterms:modified xsi:type="dcterms:W3CDTF">2026-05-08T02:06:54Z</dcterms:modified>
</cp:coreProperties>
</file>